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tt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525" y="0"/>
            <a:ext cx="7554645" cy="228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249424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t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7" y="2697480"/>
            <a:ext cx="2377440" cy="862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611880"/>
            <a:ext cx="10360152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001E62"/>
                </a:solidFill>
                <a:latin typeface="Segoe UI"/>
              </a:rPr>
              <a:t>Localisation indoor par fingerprinting WiFi</a:t>
            </a:r>
          </a:p>
          <a:p>
            <a:pPr algn="ctr">
              <a:spcAft>
                <a:spcPts val="1800"/>
              </a:spcAft>
            </a:pPr>
            <a:r>
              <a:rPr sz="1800" b="0" i="0">
                <a:solidFill>
                  <a:srgbClr val="009CDE"/>
                </a:solidFill>
                <a:latin typeface="Segoe UI"/>
              </a:rPr>
              <a:t>Détection de salle et estimation de position dans le bâtiment de l'UTT</a:t>
            </a:r>
          </a:p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1E62"/>
                </a:solidFill>
                <a:latin typeface="Segoe UI"/>
              </a:rPr>
              <a:t>Binôme 6  —  Molka GHADDAB · Maxime LE GAL · Virgile TUPET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Segoe UI"/>
              </a:rPr>
              <a:t>Encadrante : Farah Chehade   |   UV IF23 P   |   Soutenance — 3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Sommaire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1463040"/>
            <a:ext cx="548640" cy="548640"/>
          </a:xfrm>
          <a:prstGeom prst="ellipse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806" y="1605686"/>
            <a:ext cx="263347" cy="2633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1463040"/>
            <a:ext cx="8046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1E62"/>
                </a:solidFill>
                <a:latin typeface="Segoe UI"/>
              </a:rPr>
              <a:t>Contexte et objectifs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463040"/>
            <a:ext cx="12801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009CDE"/>
                </a:solidFill>
                <a:latin typeface="Segoe UI"/>
              </a:rPr>
              <a:t>diapo 3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2139696"/>
            <a:ext cx="548640" cy="548640"/>
          </a:xfrm>
          <a:prstGeom prst="ellipse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nne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806" y="2282342"/>
            <a:ext cx="263347" cy="263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11680" y="2139696"/>
            <a:ext cx="8046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1E62"/>
                </a:solidFill>
                <a:latin typeface="Segoe UI"/>
              </a:rPr>
              <a:t>Données et caractéristiques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139696"/>
            <a:ext cx="12801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009CDE"/>
                </a:solidFill>
                <a:latin typeface="Segoe UI"/>
              </a:rPr>
              <a:t>diapo 4</a:t>
            </a:r>
          </a:p>
        </p:txBody>
      </p:sp>
      <p:sp>
        <p:nvSpPr>
          <p:cNvPr id="15" name="Oval 14"/>
          <p:cNvSpPr/>
          <p:nvPr/>
        </p:nvSpPr>
        <p:spPr>
          <a:xfrm>
            <a:off x="1280160" y="2816352"/>
            <a:ext cx="548640" cy="548640"/>
          </a:xfrm>
          <a:prstGeom prst="ellipse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806" y="2958998"/>
            <a:ext cx="263347" cy="26334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11680" y="2816352"/>
            <a:ext cx="8046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1E62"/>
                </a:solidFill>
                <a:latin typeface="Segoe UI"/>
              </a:rPr>
              <a:t>Classification et évaluation réaliste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816352"/>
            <a:ext cx="12801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009CDE"/>
                </a:solidFill>
                <a:latin typeface="Segoe UI"/>
              </a:rPr>
              <a:t>diapo 6</a:t>
            </a:r>
          </a:p>
        </p:txBody>
      </p:sp>
      <p:sp>
        <p:nvSpPr>
          <p:cNvPr id="19" name="Oval 18"/>
          <p:cNvSpPr/>
          <p:nvPr/>
        </p:nvSpPr>
        <p:spPr>
          <a:xfrm>
            <a:off x="1280160" y="3493008"/>
            <a:ext cx="548640" cy="548640"/>
          </a:xfrm>
          <a:prstGeom prst="ellipse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horlo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806" y="3635654"/>
            <a:ext cx="263347" cy="2633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011680" y="3493008"/>
            <a:ext cx="8046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1E62"/>
                </a:solidFill>
                <a:latin typeface="Segoe UI"/>
              </a:rPr>
              <a:t>Évolution temporelle (drift)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493008"/>
            <a:ext cx="12801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009CDE"/>
                </a:solidFill>
                <a:latin typeface="Segoe UI"/>
              </a:rPr>
              <a:t>diapo 8</a:t>
            </a:r>
          </a:p>
        </p:txBody>
      </p:sp>
      <p:sp>
        <p:nvSpPr>
          <p:cNvPr id="23" name="Oval 22"/>
          <p:cNvSpPr/>
          <p:nvPr/>
        </p:nvSpPr>
        <p:spPr>
          <a:xfrm>
            <a:off x="1280160" y="4169664"/>
            <a:ext cx="548640" cy="548640"/>
          </a:xfrm>
          <a:prstGeom prst="ellipse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reg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2806" y="4312310"/>
            <a:ext cx="263347" cy="26334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011680" y="4169664"/>
            <a:ext cx="8046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1E62"/>
                </a:solidFill>
                <a:latin typeface="Segoe UI"/>
              </a:rPr>
              <a:t>Régression intra-zone (x, 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169664"/>
            <a:ext cx="12801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009CDE"/>
                </a:solidFill>
                <a:latin typeface="Segoe UI"/>
              </a:rPr>
              <a:t>diapo 9</a:t>
            </a:r>
          </a:p>
        </p:txBody>
      </p:sp>
      <p:sp>
        <p:nvSpPr>
          <p:cNvPr id="27" name="Oval 26"/>
          <p:cNvSpPr/>
          <p:nvPr/>
        </p:nvSpPr>
        <p:spPr>
          <a:xfrm>
            <a:off x="1280160" y="4846320"/>
            <a:ext cx="548640" cy="548640"/>
          </a:xfrm>
          <a:prstGeom prst="ellipse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ousso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2806" y="4988966"/>
            <a:ext cx="263347" cy="26334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11680" y="4846320"/>
            <a:ext cx="8046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1E62"/>
                </a:solidFill>
                <a:latin typeface="Segoe UI"/>
              </a:rPr>
              <a:t>Cartographie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846320"/>
            <a:ext cx="12801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009CDE"/>
                </a:solidFill>
                <a:latin typeface="Segoe UI"/>
              </a:rPr>
              <a:t>diapo 10</a:t>
            </a:r>
          </a:p>
        </p:txBody>
      </p:sp>
      <p:sp>
        <p:nvSpPr>
          <p:cNvPr id="31" name="Oval 30"/>
          <p:cNvSpPr/>
          <p:nvPr/>
        </p:nvSpPr>
        <p:spPr>
          <a:xfrm>
            <a:off x="1280160" y="5522976"/>
            <a:ext cx="548640" cy="548640"/>
          </a:xfrm>
          <a:prstGeom prst="ellipse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use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2806" y="5665622"/>
            <a:ext cx="263347" cy="26334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011680" y="5522976"/>
            <a:ext cx="8046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1E62"/>
                </a:solidFill>
                <a:latin typeface="Segoe UI"/>
              </a:rPr>
              <a:t>Difficultés et conclusion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522976"/>
            <a:ext cx="12801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009CDE"/>
                </a:solidFill>
                <a:latin typeface="Segoe UI"/>
              </a:rPr>
              <a:t>diapo 12</a:t>
            </a:r>
          </a:p>
        </p:txBody>
      </p:sp>
      <p:pic>
        <p:nvPicPr>
          <p:cNvPr id="35" name="Picture 34" descr="utt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Contexte et objectifs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76656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Problème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à l'intérieur, le GPS ne fonctionne pas (murs, étages).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Idée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le WiFi est partout ; chaque lieu a une « empreinte » de puissances (RSSI).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Fingerprinting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on enregistre les empreintes (hors ligne), puis on compare une mesure (en ligne).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5394960" cy="201168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45262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668926"/>
            <a:ext cx="263347" cy="2633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4526280"/>
            <a:ext cx="429768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1E62"/>
                </a:solidFill>
                <a:latin typeface="Segoe UI"/>
              </a:rPr>
              <a:t>Classification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Segoe UI"/>
              </a:rPr>
              <a:t>Prédire la zone (salle / couloir) parmi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297680"/>
            <a:ext cx="5394960" cy="201168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45262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26" y="4668926"/>
            <a:ext cx="263347" cy="2633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4526280"/>
            <a:ext cx="429768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1E62"/>
                </a:solidFill>
                <a:latin typeface="Segoe UI"/>
              </a:rPr>
              <a:t>Régression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Segoe UI"/>
              </a:rPr>
              <a:t>Estimer la position (x, y) dans une zone</a:t>
            </a:r>
          </a:p>
        </p:txBody>
      </p:sp>
      <p:pic>
        <p:nvPicPr>
          <p:cNvPr id="16" name="Picture 15" descr="fig22_plan_et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1325880"/>
            <a:ext cx="4189148" cy="2743200"/>
          </a:xfrm>
          <a:prstGeom prst="rect">
            <a:avLst/>
          </a:prstGeom>
        </p:spPr>
      </p:pic>
      <p:pic>
        <p:nvPicPr>
          <p:cNvPr id="17" name="Picture 16" descr="utt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nn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Données : trois campagnes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611880" cy="210312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611880" cy="1097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32004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1E62"/>
                </a:solidFill>
                <a:latin typeface="Segoe UI"/>
              </a:rPr>
              <a:t>ALT1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77B4"/>
                </a:solidFill>
                <a:latin typeface="Segoe UI"/>
              </a:rPr>
              <a:t>février 2026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Segoe UI"/>
              </a:rPr>
              <a:t>24 zones · 1 498 scans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Segoe UI"/>
              </a:rPr>
              <a:t>apprentissage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611880" cy="210312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3611880" cy="109728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32004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1E62"/>
                </a:solidFill>
                <a:latin typeface="Segoe UI"/>
              </a:rPr>
              <a:t>ALT2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9CDE"/>
                </a:solidFill>
                <a:latin typeface="Segoe UI"/>
              </a:rPr>
              <a:t>28 avril 2026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Segoe UI"/>
              </a:rPr>
              <a:t>10 zones · 452 scans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Segoe UI"/>
              </a:rPr>
              <a:t>test temporel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611880" cy="210312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611880" cy="10972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00200"/>
            <a:ext cx="32004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1E62"/>
                </a:solidFill>
                <a:latin typeface="Segoe UI"/>
              </a:rPr>
              <a:t>ALT3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95959"/>
                </a:solidFill>
                <a:latin typeface="Segoe UI"/>
              </a:rPr>
              <a:t>juin 2026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Segoe UI"/>
              </a:rPr>
              <a:t>à collecter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Segoe UI"/>
              </a:rPr>
              <a:t>test 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106424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01E62"/>
                </a:solidFill>
                <a:latin typeface="Segoe UI"/>
              </a:rPr>
              <a:t>Mesure : </a:t>
            </a:r>
            <a:r>
              <a:rPr sz="1700" b="0" i="0">
                <a:solidFill>
                  <a:srgbClr val="595959"/>
                </a:solidFill>
                <a:latin typeface="Segoe UI"/>
              </a:rPr>
              <a:t>SSID, BSSID, RSSI (dBm), horodatage ; vecteur de puissances, -100 si absent.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01E62"/>
                </a:solidFill>
                <a:latin typeface="Segoe UI"/>
              </a:rPr>
              <a:t>Régression : </a:t>
            </a:r>
            <a:r>
              <a:rPr sz="1700" b="0" i="0">
                <a:solidFill>
                  <a:srgbClr val="595959"/>
                </a:solidFill>
                <a:latin typeface="Segoe UI"/>
              </a:rPr>
              <a:t>une salle (5 × 7 m) cartographiée finement — 46 points (x, y) × 52 bornes.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01E62"/>
                </a:solidFill>
                <a:latin typeface="Segoe UI"/>
              </a:rPr>
              <a:t>Objet : </a:t>
            </a:r>
            <a:r>
              <a:rPr sz="1700" b="0" i="0">
                <a:solidFill>
                  <a:srgbClr val="595959"/>
                </a:solidFill>
                <a:latin typeface="Segoe UI"/>
              </a:rPr>
              <a:t>mesurer la tenue du modèle dans le temps (stratégies ALT1→ALT2→ALT3).</a:t>
            </a:r>
          </a:p>
        </p:txBody>
      </p:sp>
      <p:pic>
        <p:nvPicPr>
          <p:cNvPr id="17" name="Picture 16" descr="ut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u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Caractéristiques et choix de l'identifiant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Vectorisation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statistiques de RSSI par réseau (moyenne, max, présence) + indicateurs globaux.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Sélection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285 paires de réseaux très corrélées → on évite la redondance.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3383280" cy="237744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3017520" cy="2011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001E62"/>
                </a:solidFill>
                <a:latin typeface="Segoe UI"/>
              </a:rPr>
              <a:t>SSID seul</a:t>
            </a:r>
          </a:p>
          <a:p>
            <a:pPr algn="ctr">
              <a:spcAft>
                <a:spcPts val="1000"/>
              </a:spcAft>
            </a:pPr>
            <a:r>
              <a:rPr sz="1400" b="0" i="0">
                <a:solidFill>
                  <a:srgbClr val="595959"/>
                </a:solidFill>
                <a:latin typeface="Segoe UI"/>
              </a:rPr>
              <a:t>13 réseaux</a:t>
            </a:r>
          </a:p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F77B4"/>
                </a:solidFill>
                <a:latin typeface="Segoe UI"/>
              </a:rPr>
              <a:t>98,3 %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Segoe UI"/>
              </a:rPr>
              <a:t>accuracy hold-out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108960"/>
            <a:ext cx="3383280" cy="237744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337560"/>
            <a:ext cx="3017520" cy="2011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001E62"/>
                </a:solidFill>
                <a:latin typeface="Segoe UI"/>
              </a:rPr>
              <a:t>BSSID seul</a:t>
            </a:r>
          </a:p>
          <a:p>
            <a:pPr algn="ctr">
              <a:spcAft>
                <a:spcPts val="1000"/>
              </a:spcAft>
            </a:pPr>
            <a:r>
              <a:rPr sz="1400" b="0" i="0">
                <a:solidFill>
                  <a:srgbClr val="595959"/>
                </a:solidFill>
                <a:latin typeface="Segoe UI"/>
              </a:rPr>
              <a:t>104 réseaux</a:t>
            </a:r>
          </a:p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009CDE"/>
                </a:solidFill>
                <a:latin typeface="Segoe UI"/>
              </a:rPr>
              <a:t>99,0 %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Segoe UI"/>
              </a:rPr>
              <a:t>accuracy hold-out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08960"/>
            <a:ext cx="3383280" cy="237744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337560"/>
            <a:ext cx="3017520" cy="2011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001E62"/>
                </a:solidFill>
                <a:latin typeface="Segoe UI"/>
              </a:rPr>
              <a:t>SSID | BSSID</a:t>
            </a:r>
          </a:p>
          <a:p>
            <a:pPr algn="ctr">
              <a:spcAft>
                <a:spcPts val="1000"/>
              </a:spcAft>
            </a:pPr>
            <a:r>
              <a:rPr sz="1400" b="0" i="0">
                <a:solidFill>
                  <a:srgbClr val="595959"/>
                </a:solidFill>
                <a:latin typeface="Segoe UI"/>
              </a:rPr>
              <a:t>139 réseaux</a:t>
            </a:r>
          </a:p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2E8B57"/>
                </a:solidFill>
                <a:latin typeface="Segoe UI"/>
              </a:rPr>
              <a:t>100 %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Segoe UI"/>
              </a:rPr>
              <a:t>accuracy hold-out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95959"/>
                </a:solidFill>
                <a:latin typeface="Segoe UI"/>
              </a:rPr>
              <a:t>L'identifiant composé SSID|BSSID apporte le maximum d'information (résultat de hold-out).</a:t>
            </a:r>
          </a:p>
        </p:txBody>
      </p:sp>
      <p:pic>
        <p:nvPicPr>
          <p:cNvPr id="15" name="Picture 14" descr="ut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Classification : l'importance d'une évaluation réaliste</a:t>
            </a:r>
          </a:p>
        </p:txBody>
      </p:sp>
      <p:pic>
        <p:nvPicPr>
          <p:cNvPr id="7" name="Picture 6" descr="fig13_escal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498079" cy="34971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554480"/>
            <a:ext cx="3383280" cy="128016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38328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Segoe UI"/>
              </a:rPr>
              <a:t>99 % → 47 %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Segoe UI"/>
              </a:rPr>
              <a:t>test aléatoire → test réel ALT2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017520"/>
            <a:ext cx="3566160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595959"/>
                </a:solidFill>
                <a:latin typeface="Segoe UI"/>
              </a:rPr>
              <a:t>Un découpage aléatoire surestime (mesures quasi identiques).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595959"/>
                </a:solidFill>
                <a:latin typeface="Segoe UI"/>
              </a:rPr>
              <a:t>On durcit le protocole : séparation temporelle, puis nouvelle campagne.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595959"/>
                </a:solidFill>
                <a:latin typeface="Segoe UI"/>
              </a:rPr>
              <a:t>La performance réaliste rejoint ce qui est observé sur le terrain.</a:t>
            </a:r>
          </a:p>
        </p:txBody>
      </p:sp>
      <p:pic>
        <p:nvPicPr>
          <p:cNvPr id="11" name="Picture 10" descr="ut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Sur quoi le modèle s'appuie</a:t>
            </a:r>
          </a:p>
        </p:txBody>
      </p:sp>
      <p:pic>
        <p:nvPicPr>
          <p:cNvPr id="7" name="Picture 6" descr="fig4_importance_reseau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949440" cy="41058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54480"/>
            <a:ext cx="3840480" cy="128016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84048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2E8B57"/>
                </a:solidFill>
                <a:latin typeface="Segoe UI"/>
              </a:rPr>
              <a:t>99,6 %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Segoe UI"/>
              </a:rPr>
              <a:t>bonne zone dans le Top-3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017520"/>
            <a:ext cx="4023360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001E62"/>
                </a:solidFill>
                <a:latin typeface="Segoe UI"/>
              </a:rPr>
              <a:t>Constat : </a:t>
            </a:r>
            <a:r>
              <a:rPr sz="1500" b="0" i="0">
                <a:solidFill>
                  <a:srgbClr val="595959"/>
                </a:solidFill>
                <a:latin typeface="Segoe UI"/>
              </a:rPr>
              <a:t>les 2 réseaux les plus discriminants sont des téléphones personnels.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001E62"/>
                </a:solidFill>
                <a:latin typeface="Segoe UI"/>
              </a:rPr>
              <a:t>Conséquence : </a:t>
            </a:r>
            <a:r>
              <a:rPr sz="1500" b="0" i="0">
                <a:solidFill>
                  <a:srgbClr val="595959"/>
                </a:solidFill>
                <a:latin typeface="Segoe UI"/>
              </a:rPr>
              <a:t>utiles sur le moment, absents la campagne suivante.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001E62"/>
                </a:solidFill>
                <a:latin typeface="Segoe UI"/>
              </a:rPr>
              <a:t>Top-3 fiable : </a:t>
            </a:r>
            <a:r>
              <a:rPr sz="1500" b="0" i="0">
                <a:solidFill>
                  <a:srgbClr val="595959"/>
                </a:solidFill>
                <a:latin typeface="Segoe UI"/>
              </a:rPr>
              <a:t>idéal pour proposer une courte liste de zones.</a:t>
            </a:r>
          </a:p>
        </p:txBody>
      </p:sp>
      <p:pic>
        <p:nvPicPr>
          <p:cNvPr id="11" name="Picture 10" descr="ut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rlo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Évolution temporelle : le « drift » du WiFi</a:t>
            </a:r>
          </a:p>
        </p:txBody>
      </p:sp>
      <p:pic>
        <p:nvPicPr>
          <p:cNvPr id="7" name="Picture 6" descr="fig18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7589520" cy="278369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554480"/>
            <a:ext cx="1691640" cy="137160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169164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Segoe UI"/>
              </a:rPr>
              <a:t>47 %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Segoe UI"/>
              </a:rPr>
              <a:t>ALT1 → ALT2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1554480"/>
            <a:ext cx="1691640" cy="137160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04120" y="1645920"/>
            <a:ext cx="169164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2E8B57"/>
                </a:solidFill>
                <a:latin typeface="Segoe UI"/>
              </a:rPr>
              <a:t>100 %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Segoe UI"/>
              </a:rPr>
              <a:t>+ ré-app.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200400"/>
            <a:ext cx="356616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595959"/>
                </a:solidFill>
                <a:latin typeface="Segoe UI"/>
              </a:rPr>
              <a:t>Modèle de février testé sur avril : la moitié des zones décroche.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595959"/>
                </a:solidFill>
                <a:latin typeface="Segoe UI"/>
              </a:rPr>
              <a:t>Cause : l'environnement radio change (bornes, réseaux invités).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595959"/>
                </a:solidFill>
                <a:latin typeface="Segoe UI"/>
              </a:rPr>
              <a:t>Réintégrer 50 % d'ALT2 restaure la performance.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001E62"/>
                </a:solidFill>
                <a:latin typeface="Segoe UI"/>
              </a:rPr>
              <a:t>À retenir : </a:t>
            </a:r>
            <a:r>
              <a:rPr sz="1450" b="0" i="0">
                <a:solidFill>
                  <a:srgbClr val="595959"/>
                </a:solidFill>
                <a:latin typeface="Segoe UI"/>
              </a:rPr>
              <a:t>ré-entraîner régulièrement.</a:t>
            </a:r>
          </a:p>
        </p:txBody>
      </p:sp>
      <p:pic>
        <p:nvPicPr>
          <p:cNvPr id="13" name="Picture 12" descr="ut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Régression intra-zone (position x, y)</a:t>
            </a:r>
          </a:p>
        </p:txBody>
      </p:sp>
      <p:pic>
        <p:nvPicPr>
          <p:cNvPr id="7" name="Picture 6" descr="fig20_regression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389467" cy="4572000"/>
          </a:xfrm>
          <a:prstGeom prst="rect">
            <a:avLst/>
          </a:prstGeom>
        </p:spPr>
      </p:pic>
      <p:pic>
        <p:nvPicPr>
          <p:cNvPr id="8" name="Picture 7" descr="fig19_regression_c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554480"/>
            <a:ext cx="3840480" cy="277594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78240" y="1554480"/>
            <a:ext cx="3017520" cy="128016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301752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001E62"/>
                </a:solidFill>
                <a:latin typeface="Segoe UI"/>
              </a:rPr>
              <a:t>≈ 1,1 m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Segoe UI"/>
              </a:rPr>
              <a:t>erreur médiane (zone 5×7 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017520"/>
            <a:ext cx="3200400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100"/>
              </a:spcAft>
            </a:pPr>
            <a:r>
              <a:rPr sz="145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001E62"/>
                </a:solidFill>
                <a:latin typeface="Segoe UI"/>
              </a:rPr>
              <a:t>Modèle hybride : </a:t>
            </a:r>
            <a:r>
              <a:rPr sz="1450" b="0" i="0">
                <a:solidFill>
                  <a:srgbClr val="595959"/>
                </a:solidFill>
                <a:latin typeface="Segoe UI"/>
              </a:rPr>
              <a:t>X par processus gaussien, Y par ExtraTrees.</a:t>
            </a:r>
          </a:p>
          <a:p>
            <a:pPr>
              <a:spcAft>
                <a:spcPts val="1100"/>
              </a:spcAft>
            </a:pPr>
            <a:r>
              <a:rPr sz="145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001E62"/>
                </a:solidFill>
                <a:latin typeface="Segoe UI"/>
              </a:rPr>
              <a:t>Pourquoi : </a:t>
            </a:r>
            <a:r>
              <a:rPr sz="1450" b="0" i="0">
                <a:solidFill>
                  <a:srgbClr val="595959"/>
                </a:solidFill>
                <a:latin typeface="Segoe UI"/>
              </a:rPr>
              <a:t>les deux axes n'ont pas la même difficulté.</a:t>
            </a:r>
          </a:p>
          <a:p>
            <a:pPr>
              <a:spcAft>
                <a:spcPts val="1100"/>
              </a:spcAft>
            </a:pPr>
            <a:r>
              <a:rPr sz="145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001E62"/>
                </a:solidFill>
                <a:latin typeface="Segoe UI"/>
              </a:rPr>
              <a:t>Limite : </a:t>
            </a:r>
            <a:r>
              <a:rPr sz="1450" b="0" i="0">
                <a:solidFill>
                  <a:srgbClr val="595959"/>
                </a:solidFill>
                <a:latin typeface="Segoe UI"/>
              </a:rPr>
              <a:t>précision bornée par le nombre de points (46).</a:t>
            </a:r>
          </a:p>
        </p:txBody>
      </p:sp>
      <p:pic>
        <p:nvPicPr>
          <p:cNvPr id="12" name="Picture 11" descr="ut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us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Cartographie : puissance et plan</a:t>
            </a:r>
          </a:p>
        </p:txBody>
      </p:sp>
      <p:pic>
        <p:nvPicPr>
          <p:cNvPr id="7" name="Picture 6" descr="fig21_heat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4963709" cy="4937760"/>
          </a:xfrm>
          <a:prstGeom prst="rect">
            <a:avLst/>
          </a:prstGeom>
        </p:spPr>
      </p:pic>
      <p:pic>
        <p:nvPicPr>
          <p:cNvPr id="8" name="Picture 7" descr="fig22_plan_et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166616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4937760"/>
            <a:ext cx="55778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001E62"/>
                </a:solidFill>
                <a:latin typeface="Segoe UI"/>
              </a:rPr>
              <a:t>Carte de puissance : </a:t>
            </a:r>
            <a:r>
              <a:rPr sz="1500" b="0" i="0">
                <a:solidFill>
                  <a:srgbClr val="595959"/>
                </a:solidFill>
                <a:latin typeface="Segoe UI"/>
              </a:rPr>
              <a:t>RSSI interpolé par borne sur la zone.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001E62"/>
                </a:solidFill>
                <a:latin typeface="Segoe UI"/>
              </a:rPr>
              <a:t>Plan : </a:t>
            </a:r>
            <a:r>
              <a:rPr sz="1500" b="0" i="0">
                <a:solidFill>
                  <a:srgbClr val="595959"/>
                </a:solidFill>
                <a:latin typeface="Segoe UI"/>
              </a:rPr>
              <a:t>campus UTT (bâtiment) + croquis d'étage (salle, position).</a:t>
            </a:r>
          </a:p>
        </p:txBody>
      </p:sp>
      <p:pic>
        <p:nvPicPr>
          <p:cNvPr id="10" name="Picture 9" descr="ut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Cartographie : démo et aide à la mobilité</a:t>
            </a:r>
          </a:p>
        </p:txBody>
      </p:sp>
      <p:pic>
        <p:nvPicPr>
          <p:cNvPr id="7" name="Picture 6" descr="fig24_demo_locali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040880" cy="2958315"/>
          </a:xfrm>
          <a:prstGeom prst="rect">
            <a:avLst/>
          </a:prstGeom>
        </p:spPr>
      </p:pic>
      <p:pic>
        <p:nvPicPr>
          <p:cNvPr id="8" name="Picture 7" descr="fig23_map_ass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463040"/>
            <a:ext cx="4114800" cy="28567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4572000"/>
            <a:ext cx="3566160" cy="1097280"/>
          </a:xfrm>
          <a:prstGeom prst="roundRect">
            <a:avLst/>
          </a:prstGeom>
          <a:solidFill>
            <a:srgbClr val="E3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4663440"/>
            <a:ext cx="35661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2E8B57"/>
                </a:solidFill>
                <a:latin typeface="Segoe UI"/>
              </a:rPr>
              <a:t>+7,6 pts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Segoe UI"/>
              </a:rPr>
              <a:t>aide mobilité (désactivable)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70408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45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595959"/>
                </a:solidFill>
                <a:latin typeface="Segoe UI"/>
              </a:rPr>
              <a:t>Scan réel → étage, zone (Top-3), position sur le plan.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595959"/>
                </a:solidFill>
                <a:latin typeface="Segoe UI"/>
              </a:rPr>
              <a:t>Aide mobilité : graphe de transition entre zones voisines.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001E62"/>
                </a:solidFill>
                <a:latin typeface="Segoe UI"/>
              </a:rPr>
              <a:t>Prudence : </a:t>
            </a:r>
            <a:r>
              <a:rPr sz="1450" b="0" i="0">
                <a:solidFill>
                  <a:srgbClr val="595959"/>
                </a:solidFill>
                <a:latin typeface="Segoe UI"/>
              </a:rPr>
              <a:t>activable, désactivée par défaut.</a:t>
            </a:r>
          </a:p>
        </p:txBody>
      </p:sp>
      <p:pic>
        <p:nvPicPr>
          <p:cNvPr id="12" name="Picture 11" descr="ut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le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Difficultés rencontrées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20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Encodage live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format SSID|BSSID attendu par le modèle ≠ SSID brut du scanner → détection auto du format.</a:t>
            </a:r>
          </a:p>
          <a:p>
            <a:pPr>
              <a:spcAft>
                <a:spcPts val="20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Renouvellement de l'infra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des bornes remplacées rendent invisibles les empreintes connues (limite du fingerprinting).</a:t>
            </a:r>
          </a:p>
          <a:p>
            <a:pPr>
              <a:spcAft>
                <a:spcPts val="20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Petites classes &amp; versions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zone trop peu mesurée écartée de la validation ; versions scikit-learn gérées.</a:t>
            </a:r>
          </a:p>
          <a:p>
            <a:pPr>
              <a:spcAft>
                <a:spcPts val="20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Protocole de mesure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passage du découpage A/B (ALT1) à la capture continue (ALT2).</a:t>
            </a:r>
          </a:p>
        </p:txBody>
      </p:sp>
      <p:pic>
        <p:nvPicPr>
          <p:cNvPr id="8" name="Picture 7" descr="ut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12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us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7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0"/>
            <a:ext cx="104241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Conclusion et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2468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Deux tâches livrées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classification de zone et position (x, y) à ≈ 1 m.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Enseignement clé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le hold-out flatte ; le vrai test (nouvelle campagne) tombe à 47 % puis se restaure.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01E62"/>
                </a:solidFill>
                <a:latin typeface="Segoe UI"/>
              </a:rPr>
              <a:t>Cartographie : </a:t>
            </a:r>
            <a:r>
              <a:rPr sz="1800" b="0" i="0">
                <a:solidFill>
                  <a:srgbClr val="595959"/>
                </a:solidFill>
                <a:latin typeface="Segoe UI"/>
              </a:rPr>
              <a:t>puissance, plan, démo bout-en-bout, aide mobilité désactivable.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1E62"/>
                </a:solidFill>
                <a:latin typeface="Segoe UI"/>
              </a:rPr>
              <a:t>Perspectives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9728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595959"/>
                </a:solidFill>
                <a:latin typeface="Segoe UI"/>
              </a:rPr>
              <a:t>Collecter ALT3 (juin) → stratégie 3.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595959"/>
                </a:solidFill>
                <a:latin typeface="Segoe UI"/>
              </a:rPr>
              <a:t>Densifier la régression et l'étendre à d'autres zones.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9CDE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595959"/>
                </a:solidFill>
                <a:latin typeface="Segoe UI"/>
              </a:rPr>
              <a:t>Intégrer la cartographie dans l'interface temps réel.</a:t>
            </a:r>
          </a:p>
        </p:txBody>
      </p:sp>
      <p:pic>
        <p:nvPicPr>
          <p:cNvPr id="10" name="Picture 9" descr="ut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00800"/>
            <a:ext cx="914400" cy="3315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6400800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Segoe UI"/>
              </a:rPr>
              <a:t>IF23 P — Localisation indoor WiFi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009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t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127" y="1371600"/>
            <a:ext cx="2377440" cy="862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83280"/>
            <a:ext cx="10360152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Merci de votre attention</a:t>
            </a:r>
          </a:p>
          <a:p>
            <a:pPr algn="ctr">
              <a:spcAft>
                <a:spcPts val="1400"/>
              </a:spcAft>
            </a:pPr>
            <a:r>
              <a:rPr sz="2200" b="0" i="0">
                <a:solidFill>
                  <a:srgbClr val="009CDE"/>
                </a:solidFill>
                <a:latin typeface="Segoe UI"/>
              </a:rPr>
              <a:t>Questions ?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Binôme 6 — Molka GHADDAB · Maxime LE GAL · Virgile TUPET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